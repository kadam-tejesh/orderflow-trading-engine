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4846320"/>
            <a:ext cx="18288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36992" y="4480560"/>
            <a:ext cx="18288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84464" y="4709160"/>
            <a:ext cx="182880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31936" y="4069080"/>
            <a:ext cx="182880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79408" y="4343400"/>
            <a:ext cx="182880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0" y="3657600"/>
            <a:ext cx="182880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74352" y="4160520"/>
            <a:ext cx="182880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21824" y="3474720"/>
            <a:ext cx="182880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69296" y="3931920"/>
            <a:ext cx="182880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16768" y="3246120"/>
            <a:ext cx="182880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14300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1F5F9"/>
                </a:solidFill>
                <a:latin typeface="Aptos"/>
              </a:defRPr>
            </a:pPr>
            <a:r>
              <a:t>ORDERFLOW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Aptos"/>
              </a:defRPr>
            </a:pPr>
            <a:r>
              <a:t>Real-Time Trading &amp;</a:t>
            </a:r>
            <a:br/>
            <a:r>
              <a:t>Risk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DA9BC"/>
                </a:solidFill>
                <a:latin typeface="Aptos"/>
              </a:defRPr>
            </a:pPr>
            <a:r>
              <a:t>Kafka-driven event processing • Low-latency matching • Pre-trade risk checks • Live market-data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69080"/>
            <a:ext cx="1325880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78224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JAVA 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1" y="4069080"/>
            <a:ext cx="15087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1" y="4078224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4069080"/>
            <a:ext cx="1325880" cy="310896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078224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KAFKA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4069080"/>
            <a:ext cx="1143000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407822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807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9893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1F5F9"/>
                </a:solidFill>
                <a:latin typeface="Aptos"/>
              </a:defRPr>
            </a:pPr>
            <a:r>
              <a:t>OrderFlow Trading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Trading systems must validate orders before execution to prevent financially invalid trades.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Order matching needs deterministic price-time behavior while processing events quickly.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Trade executions and order-book changes must reach downstream services independently.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Users need live visibility into trades, bid/ask depth and market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45262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391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Pre-trade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391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Reject orders when simulated funds are insufficient.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83464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8163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Matching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1635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Match BUY/SELL orders using price crossing and market/limit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3611880"/>
            <a:ext cx="384048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59359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Event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9359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Publish executions and depth updates through Apache Kafka.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2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389120"/>
            <a:ext cx="384048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37083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Live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37083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Stream market data to a React trading terminal using STOMP/WebSocket.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544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React Trading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Order entry</a:t>
            </a:r>
            <a:br/>
            <a:r>
              <a:t>Order book • Trade tape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173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41732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5544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Matching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928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Spring Boot</a:t>
            </a:r>
            <a:br/>
            <a:r>
              <a:t>Disruptor + OrderBook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4173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417320"/>
            <a:ext cx="73152" cy="9601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15544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928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trade.executions</a:t>
            </a:r>
            <a:br/>
            <a:r>
              <a:t>order.book.updates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173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41732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5544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Risk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18928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Spring Boot</a:t>
            </a:r>
            <a:br/>
            <a:r>
              <a:t>JPA + H2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2461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3246120"/>
            <a:ext cx="73152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3383279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Clearing 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37216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Trade settlement</a:t>
            </a:r>
            <a:br/>
            <a:r>
              <a:t>calculation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461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3246120"/>
            <a:ext cx="73152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3383279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Market Data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37216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Kafka → STOMP</a:t>
            </a:r>
            <a:br/>
            <a:r>
              <a:t>WebSocket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246120"/>
            <a:ext cx="1920240" cy="9601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24612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3383279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Order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3721608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POST /api/orders</a:t>
            </a:r>
            <a:br/>
            <a:r>
              <a:t>risk gate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60320" y="1901952"/>
            <a:ext cx="6400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1901952"/>
            <a:ext cx="6400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60" y="1901952"/>
            <a:ext cx="6400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2395728"/>
            <a:ext cx="0" cy="850392"/>
          </a:xfrm>
          <a:prstGeom prst="line">
            <a:avLst/>
          </a:prstGeom>
          <a:ln w="2794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120640" y="3730752"/>
            <a:ext cx="6400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120640" y="2514600"/>
            <a:ext cx="0" cy="1216152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60" y="3730752"/>
            <a:ext cx="640080" cy="0"/>
          </a:xfrm>
          <a:prstGeom prst="line">
            <a:avLst/>
          </a:prstGeom>
          <a:ln w="2794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48006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Aptos"/>
              </a:defRPr>
            </a:pPr>
            <a:r>
              <a:t>Design principle: synchronous risk validation at the order boundary; asynchronous Kafka events for execution, clearing and market-data fan-out.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End-to-End Order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581912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9105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8191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Place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React UI sends POST /api/orders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93592" y="1581912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59105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8191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Risk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10312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Matching Engine calls Risk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1581912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59105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8191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Accept / 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10312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Insufficient funds → fail closed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41732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2872" y="1581912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59105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58191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Publish internally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10312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Accepted order enters Disruptor ring 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6616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" y="3730752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3989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7307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2519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OrderBook evaluates price crossing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56616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93592" y="3730752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2" y="373989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7307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Event 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42519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Trade execution published to Kafka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56616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3730752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73989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7307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Fan-out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2519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Clearing + Risk consumers process execution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566160"/>
            <a:ext cx="2423160" cy="15087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62872" y="3730752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3739896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0E1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7307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Live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42519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Gateway broadcasts trades/depth via STOMP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Pre-Trade Risk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657600" cy="448056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Risk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  <a:latin typeface="Aptos"/>
              </a:defRPr>
            </a:pPr>
            <a:r>
              <a:t>available balance</a:t>
            </a:r>
            <a:br/>
            <a:r>
              <a:t>≥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Aptos"/>
              </a:defRPr>
            </a:pPr>
            <a:r>
              <a:t>order value = price ×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DA9BC"/>
                </a:solidFill>
                <a:latin typeface="Aptos"/>
              </a:defRPr>
            </a:pPr>
            <a:r>
              <a:t>The risk service exposes a REST endpoint that returns a boolean sufficientFunds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7086600" cy="448056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Decision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317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Aptos"/>
              </a:defRPr>
            </a:pPr>
            <a:r>
              <a:t>POST /api/orders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2542032"/>
            <a:ext cx="548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2360" y="21945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Aptos"/>
              </a:defRPr>
            </a:pPr>
            <a:r>
              <a:t>GET /api/accounts/{id}/check</a:t>
            </a:r>
            <a:br/>
            <a:r>
              <a:t>?orderValue=…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0" y="2542032"/>
            <a:ext cx="548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75520" y="2148840"/>
            <a:ext cx="1325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  <a:latin typeface="Aptos"/>
              </a:defRPr>
            </a:pPr>
            <a:r>
              <a:t>sufficient</a:t>
            </a:r>
            <a:br/>
            <a:r>
              <a:t>funds?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2880360"/>
            <a:ext cx="0" cy="777240"/>
          </a:xfrm>
          <a:prstGeom prst="line">
            <a:avLst/>
          </a:prstGeom>
          <a:ln w="2794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29800" y="370332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ptos"/>
              </a:defRPr>
            </a:pPr>
            <a:r>
              <a:t>NO → reject</a:t>
            </a:r>
            <a:br/>
            <a:r>
              <a:t>HTTP 400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006840" y="2240280"/>
            <a:ext cx="822960" cy="192024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52360" y="379476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ptos"/>
              </a:defRPr>
            </a:pPr>
            <a:r>
              <a:t>YES → publish order</a:t>
            </a:r>
            <a:br/>
            <a:r>
              <a:t>to Disruptor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80060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Aptos"/>
              </a:defRPr>
            </a:pPr>
            <a:r>
              <a:t>• Fail-closed behavior: if Risk Service is unreachable, the order is rejected.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Matching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Order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OrderEvent objects are published into an LMAX Disruptor ring buffer of 16,384 entries.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OrderBook maintains bids in descending price order and asks in ascending price order.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 trade occurs when the incoming order crosses the best opposite price.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Market orders execute against available liquidity; limit orders rest when unmatched.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Partial fills reduce the resting order quantity and continue until the incoming quantity is exhausted.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45262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Price crossing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ptos"/>
              </a:defRPr>
            </a:pPr>
            <a:r>
              <a:t>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148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Aptos"/>
              </a:defRPr>
            </a:pPr>
            <a:r>
              <a:t>BIDS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101.50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60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Aptos Mono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99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102.00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999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Aptos Mono"/>
              </a:defRPr>
            </a:pPr>
            <a: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381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102.50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4381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Aptos Mono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560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560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 Mono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999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992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 Mono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381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F1F5F9"/>
                </a:solidFill>
                <a:latin typeface="Aptos Mono"/>
              </a:defRPr>
            </a:pPr>
            <a:r>
              <a:t>100.00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381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 Mono"/>
              </a:defRPr>
            </a:pPr>
            <a: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Aptos"/>
              </a:defRPr>
            </a:pPr>
            <a:r>
              <a:t>BUY 101.50 × 10  →  matches ASK 101.50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6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Aptos"/>
              </a:defRPr>
            </a:pPr>
            <a:r>
              <a:t>Execution event: price 101.50 • quantity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Kafka Event-Driven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1852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Aptos"/>
              </a:defRPr>
            </a:pPr>
            <a:r>
              <a:t>Kafka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4480560" cy="123444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059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Aptos Mono"/>
              </a:defRPr>
            </a:pPr>
            <a:r>
              <a:t>trade.executions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52928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3 partitions • execution event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240280"/>
            <a:ext cx="4754880" cy="123444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4505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Aptos Mono"/>
              </a:defRPr>
            </a:pPr>
            <a:r>
              <a:t>order.book.updates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529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3 partitions • market depth snapshots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86200"/>
            <a:ext cx="2423160" cy="11430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965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Risk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DA9BC"/>
                </a:solidFill>
                <a:latin typeface="Aptos"/>
              </a:defRPr>
            </a:pPr>
            <a:r>
              <a:t>observes trade executions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886200"/>
            <a:ext cx="2423160" cy="11430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40965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Clearing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434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DA9BC"/>
                </a:solidFill>
                <a:latin typeface="Aptos"/>
              </a:defRPr>
            </a:pPr>
            <a:r>
              <a:t>calculates trade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886200"/>
            <a:ext cx="2423160" cy="11430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965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Market Data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DA9BC"/>
                </a:solidFill>
                <a:latin typeface="Aptos"/>
              </a:defRPr>
            </a:pPr>
            <a:r>
              <a:t>pushes live UI updates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103120" y="3474720"/>
            <a:ext cx="1051560" cy="411480"/>
          </a:xfrm>
          <a:prstGeom prst="line">
            <a:avLst/>
          </a:prstGeom>
          <a:ln w="2794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54680" y="3474720"/>
            <a:ext cx="1737360" cy="411480"/>
          </a:xfrm>
          <a:prstGeom prst="line">
            <a:avLst/>
          </a:prstGeom>
          <a:ln w="2794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680960" y="3474720"/>
            <a:ext cx="411480" cy="411480"/>
          </a:xfrm>
          <a:prstGeom prst="line">
            <a:avLst/>
          </a:prstGeom>
          <a:ln w="2794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98280" y="406908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A single execution event can be consumed independently by multiple services.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Real-Time Market Data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1852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2057400" cy="13258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591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Aptos"/>
              </a:defRPr>
            </a:pPr>
            <a:r>
              <a:t>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DA9BC"/>
                </a:solidFill>
                <a:latin typeface="Aptos"/>
              </a:defRPr>
            </a:pPr>
            <a:r>
              <a:t>trade.executions</a:t>
            </a:r>
            <a:br/>
            <a:r>
              <a:t>order.book.updates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807208"/>
            <a:ext cx="502920" cy="0"/>
          </a:xfrm>
          <a:prstGeom prst="line">
            <a:avLst/>
          </a:prstGeom>
          <a:ln w="2794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48840"/>
            <a:ext cx="2057400" cy="13258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3591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Aptos"/>
              </a:defRPr>
            </a:pPr>
            <a:r>
              <a:t>Listener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743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DA9BC"/>
                </a:solidFill>
                <a:latin typeface="Aptos"/>
              </a:defRPr>
            </a:pPr>
            <a:r>
              <a:t>@KafkaListener</a:t>
            </a:r>
            <a:br/>
            <a:r>
              <a:t>consumer groups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807208"/>
            <a:ext cx="502920" cy="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2148840"/>
            <a:ext cx="2057400" cy="13258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591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Aptos"/>
              </a:defRPr>
            </a:pPr>
            <a:r>
              <a:t>STOMP Broker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43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DA9BC"/>
                </a:solidFill>
                <a:latin typeface="Aptos"/>
              </a:defRPr>
            </a:pPr>
            <a:r>
              <a:t>/topic/trades</a:t>
            </a:r>
            <a:br/>
            <a:r>
              <a:t>/topic/orderbook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2440" y="2807208"/>
            <a:ext cx="502919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2148840"/>
            <a:ext cx="2057400" cy="13258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3591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7432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DA9BC"/>
                </a:solidFill>
                <a:latin typeface="Aptos"/>
              </a:defRPr>
            </a:pPr>
            <a:r>
              <a:t>live tape</a:t>
            </a:r>
            <a:br/>
            <a:r>
              <a:t>order book •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Aptos"/>
              </a:defRPr>
            </a:pPr>
            <a:r>
              <a:t>The gateway converts asynchronous Kafka events into browser-friendly STOMP/WebSocket messages. Failed Kafka messages use a DefaultErrorHandler with 1-second backoff and up to 3 retries.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5166360"/>
            <a:ext cx="2743200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5175504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SOCKJS + STOMP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React Trading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75488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User-facing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BUY / SELL order entry with LIMIT and MARKET order types.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Live bid/ask order book with price and aggregate volume.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Recent trade tape with symbol, price, quantity and execution time.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Canvas-based order-book visualization and cumulative depth chart.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Ticker tape shows latest price and direction of movement.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ptos"/>
              </a:defRPr>
            </a:pPr>
            <a:r>
              <a:t>• Connection state reflects LIVE / OFFLINE WebSocket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325880"/>
            <a:ext cx="5989320" cy="45262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572768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Aptos"/>
              </a:defRPr>
            </a:pPr>
            <a:r>
              <a:t>ORDERFLOW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1536192"/>
            <a:ext cx="914400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0" y="1545336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057400"/>
            <a:ext cx="1828800" cy="32004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2860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Place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43200"/>
            <a:ext cx="640080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752344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BUY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743200"/>
            <a:ext cx="64008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752344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3375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7033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Aptos Mono"/>
              </a:defRPr>
            </a:pPr>
            <a:r>
              <a:t>Price  101.50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0690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Aptos Mono"/>
              </a:defRPr>
            </a:pPr>
            <a:r>
              <a:t>Qty    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057400"/>
            <a:ext cx="1737360" cy="32004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2860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ORDER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889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Aptos Mono"/>
              </a:defRPr>
            </a:pPr>
            <a:r>
              <a:t>101.50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2461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Aptos Mono"/>
              </a:defRPr>
            </a:pPr>
            <a:r>
              <a:t>101.00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033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Aptos Mono"/>
              </a:defRPr>
            </a:pPr>
            <a:r>
              <a:t>100.50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3434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ptos Mono"/>
              </a:defRPr>
            </a:pPr>
            <a:r>
              <a:t>100.00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006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ptos Mono"/>
              </a:defRPr>
            </a:pPr>
            <a:r>
              <a:t>99.50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257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ptos Mono"/>
              </a:defRPr>
            </a:pPr>
            <a:r>
              <a:t>99.00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057400"/>
            <a:ext cx="1508760" cy="320040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2860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Aptos"/>
              </a:defRPr>
            </a:pPr>
            <a:r>
              <a:t>TRADES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7889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101.50  10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2918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101.25  5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7947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101.00  8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2976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100.90  4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Core Data Model &amp;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Key domain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1031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orderId • accountId • symbol • side • type • price •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0779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07791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accountId •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2463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TradeExecutionEvent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712463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tradeId • symbol • buyOrderId • sellOrderId • price • quantity • executedAt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DepthLevel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517136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DA9BC"/>
                </a:solidFill>
                <a:latin typeface="Aptos"/>
              </a:defRPr>
            </a:pPr>
            <a:r>
              <a:t>price • aggregated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45262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REST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84831"/>
            <a:ext cx="658368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93975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7568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/api/orders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20756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Submit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615184"/>
            <a:ext cx="658368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624327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606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/api/accounts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6060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Create/update account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145535"/>
            <a:ext cx="658368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154679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1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/api/accounts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136391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List accounts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675887"/>
            <a:ext cx="658368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685031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6674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/api/accounts/{id}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366674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Get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206240"/>
            <a:ext cx="658368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215383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9709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/api/accounts/{id}/check?orderValue=…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19709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Risk check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736592"/>
            <a:ext cx="658368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745736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7274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Aptos Mono"/>
              </a:defRPr>
            </a:pPr>
            <a:r>
              <a:t>/test/publish-sample-trade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472744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DA9BC"/>
                </a:solidFill>
                <a:latin typeface="Aptos"/>
              </a:defRPr>
            </a:pPr>
            <a:r>
              <a:t>Kafka test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29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Java 21</a:t>
            </a:r>
            <a:br/>
            <a:r>
              <a:t>Spring Boot 3.3.4</a:t>
            </a:r>
            <a:br/>
            <a:r>
              <a:t>Spring Web / JPA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342900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Messaging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Apache Kafka</a:t>
            </a:r>
            <a:br/>
            <a:r>
              <a:t>Spring Kafka</a:t>
            </a:r>
            <a:br/>
            <a:r>
              <a:t>JSON serialization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3429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LMAX Disruptor</a:t>
            </a:r>
            <a:br/>
            <a:r>
              <a:t>TreeMap + Deque</a:t>
            </a:r>
            <a:br/>
            <a:r>
              <a:t>Price crossing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3429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H2 in-memory DB</a:t>
            </a:r>
            <a:br/>
            <a:r>
              <a:t>Spring Data JPA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3429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519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React</a:t>
            </a:r>
            <a:br/>
            <a:r>
              <a:t>Vite</a:t>
            </a:r>
            <a:br/>
            <a:r>
              <a:t>STOMP + SockJS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64592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34290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Aptos"/>
              </a:defRPr>
            </a:pPr>
            <a:r>
              <a:t>Testing /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Maven</a:t>
            </a:r>
            <a:br/>
            <a:r>
              <a:t>Spring Boot Test</a:t>
            </a:r>
            <a:br/>
            <a:r>
              <a:t>Kafka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DA9BC"/>
                </a:solidFill>
                <a:latin typeface="Aptos"/>
              </a:defRPr>
            </a:pPr>
            <a:r>
              <a:t>Local services currently use ports: Risk 8083 • Market Data Gateway 8084 • Matching Engine 8085 • Kafka 9092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Demonstration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1852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Aptos"/>
              </a:defRPr>
            </a:pPr>
            <a:r>
              <a:t>Example: BUY order that executes successfully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488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ACC001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1488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Balance = ₹5,000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423160"/>
            <a:ext cx="0" cy="228600"/>
          </a:xfrm>
          <a:prstGeom prst="line">
            <a:avLst/>
          </a:prstGeom>
          <a:ln w="15240">
            <a:solidFill>
              <a:srgbClr val="2D3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791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791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BUY AXLR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67919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Price = ₹101.50 • Qty = 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953512"/>
            <a:ext cx="0" cy="228600"/>
          </a:xfrm>
          <a:prstGeom prst="line">
            <a:avLst/>
          </a:prstGeom>
          <a:ln w="15240">
            <a:solidFill>
              <a:srgbClr val="2D3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20954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095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101.50 × 10 = ₹1,015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209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"/>
              </a:defRPr>
            </a:pPr>
            <a:r>
              <a:t>₹1,015 ≤ ₹5,000 → ACCEPT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483863"/>
            <a:ext cx="0" cy="228600"/>
          </a:xfrm>
          <a:prstGeom prst="line">
            <a:avLst/>
          </a:prstGeom>
          <a:ln w="15240">
            <a:solidFill>
              <a:srgbClr val="2D3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73989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7398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Best ask = ₹101.50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73989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"/>
              </a:defRPr>
            </a:pPr>
            <a:r>
              <a:t>Order crosses → trade created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63040" y="4014215"/>
            <a:ext cx="0" cy="228601"/>
          </a:xfrm>
          <a:prstGeom prst="line">
            <a:avLst/>
          </a:prstGeom>
          <a:ln w="15240">
            <a:solidFill>
              <a:srgbClr val="2D3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27024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2702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trade.executions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27024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DA9BC"/>
                </a:solidFill>
                <a:latin typeface="Aptos"/>
              </a:defRPr>
            </a:pPr>
            <a:r>
              <a:t>Execution event published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63040" y="4544568"/>
            <a:ext cx="0" cy="228600"/>
          </a:xfrm>
          <a:prstGeom prst="line">
            <a:avLst/>
          </a:prstGeom>
          <a:ln w="15240">
            <a:solidFill>
              <a:srgbClr val="2D3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8006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A9BC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8006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 Mono"/>
              </a:defRPr>
            </a:pPr>
            <a:r>
              <a:t>Live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8006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Aptos"/>
              </a:defRPr>
            </a:pPr>
            <a:r>
              <a:t>Trade tape + order book/depth refresh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ptos"/>
              </a:defRPr>
            </a:pPr>
            <a:r>
              <a:t>Negative path: if the account cannot cover ₹1,015—or the risk service is unreachable—the order is rejected before matching.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ptos"/>
              </a:defRPr>
            </a:pPr>
            <a:r>
              <a:t>Challenges, Learnings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4526280"/>
          </a:xfrm>
          <a:prstGeom prst="roundRect">
            <a:avLst/>
          </a:prstGeom>
          <a:solidFill>
            <a:srgbClr val="141B27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Engineering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Kafka decouples producers from multiple independent consumers.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Pre-trade risk belongs at the order boundary, before the matching engine mutates state.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 deterministic in-memory order book can provide efficient price-level lookup.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WebSocket/STOMP is well suited to streaming market data to browsers.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Fail-closed risk checks are safer than allowing orders when the risk dependency is unavailable.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4526280"/>
          </a:xfrm>
          <a:prstGeom prst="roundRect">
            <a:avLst/>
          </a:prstGeom>
          <a:solidFill>
            <a:srgbClr val="192231"/>
          </a:solidFill>
          <a:ln w="8890">
            <a:solidFill>
              <a:srgbClr val="2D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Persist accounts and trades in PostgreSQL/MySQL instead of H2.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Externalize service URLs and Kafka configuration with environment variables.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Add authentication/authorization and per-account ownership checks.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Add idempotency, stronger event schemas and dead-letter topics.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Scale Kafka consumers and matching components for higher throughput.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Add metrics, tracing and dashboards with Micrometer/Prometheus/Grafana.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33172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Aptos"/>
              </a:defRPr>
            </a:pPr>
            <a:r>
              <a:t>OrderFlow demonstrates a complete event-driven trading workflow:</a:t>
            </a:r>
            <a:br/>
            <a:r>
              <a:t>pre-trade risk → low-latency matching → Kafka event streaming → live market-data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86200"/>
            <a:ext cx="1691640" cy="3108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95344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886200"/>
            <a:ext cx="169164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3895344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86200"/>
            <a:ext cx="1691640" cy="310896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895344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886200"/>
            <a:ext cx="1691640" cy="31089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895344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0E16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92040"/>
            <a:ext cx="8503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DA9BC"/>
                </a:solidFill>
                <a:latin typeface="Aptos"/>
              </a:defRPr>
            </a:pPr>
            <a:r>
              <a:t>The architecture separates synchronous financial validation from asynchronous event distribution, making the system easier to extend with clearing, analytics and additional trading consumers.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8064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DA9BC"/>
                </a:solidFill>
                <a:latin typeface="Aptos"/>
              </a:defRPr>
            </a:pPr>
            <a:r>
              <a:t>ORDERFLOW  •  Real-Time Trading &amp; Risk Management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